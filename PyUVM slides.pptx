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8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Helvetica Neue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7CDEBC-9553-4604-A69B-95068904945A}">
  <a:tblStyle styleId="{4D7CDEBC-9553-4604-A69B-9506890494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0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46b11a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d46b11a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d46b11a5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d46b11a5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d46b11a5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d46b11a5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d46b11a5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d46b11a5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6b11a5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d46b11a5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d46b11a5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d46b11a5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d46b11a5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d46b11a5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d46b11a5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d46b11a5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46b11a5a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d46b11a5a_0_2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dd46b11a5a_0_2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d46b11a5a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d46b11a5a_0_2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dd46b11a5a_0_2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d46b11a5a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d46b11a5a_0_3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dd46b11a5a_0_3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d46b11a5a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d46b11a5a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46b11a5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d46b11a5a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dd46b11a5a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d46b11a5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d46b11a5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dd46b11a5a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d46b11a5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d46b11a5a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dd46b11a5a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d46b11a5a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d46b11a5a_0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dd46b11a5a_0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d46b11a5a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d46b11a5a_0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dd46b11a5a_0_2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d46b11a5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d46b11a5a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dd46b11a5a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d46b11a5a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d46b11a5a_0_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dd46b11a5a_0_1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d46b11a5a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d46b11a5a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d46b11a5a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d46b11a5a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d46b11a5a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d46b11a5a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d46b11a5a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d46b11a5a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d46b11a5a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d46b11a5a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d46b11a5a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d46b11a5a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d46b11a5a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d46b11a5a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784856" y="1095938"/>
            <a:ext cx="8092500" cy="3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Helvetica Neue"/>
              <a:buChar char="●"/>
              <a:defRPr sz="2000" b="1">
                <a:solidFill>
                  <a:schemeClr val="dk2"/>
                </a:solidFill>
              </a:defRPr>
            </a:lvl1pPr>
            <a:lvl2pPr marL="914400" lvl="1" indent="-31115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○"/>
              <a:defRPr sz="17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279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79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Char char="•"/>
              <a:defRPr sz="1200">
                <a:solidFill>
                  <a:schemeClr val="dk2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139095" y="4767263"/>
            <a:ext cx="738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3" name="Google Shape;53;p13"/>
          <p:cNvCxnSpPr/>
          <p:nvPr/>
        </p:nvCxnSpPr>
        <p:spPr>
          <a:xfrm>
            <a:off x="784859" y="916806"/>
            <a:ext cx="8092500" cy="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" name="Google Shape;54;p13"/>
          <p:cNvCxnSpPr/>
          <p:nvPr/>
        </p:nvCxnSpPr>
        <p:spPr>
          <a:xfrm>
            <a:off x="784859" y="4648575"/>
            <a:ext cx="8092500" cy="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784860" y="181535"/>
            <a:ext cx="76923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AA"/>
              </a:buClr>
              <a:buSzPts val="2400"/>
              <a:buFont typeface="Helvetica Neue"/>
              <a:buNone/>
              <a:defRPr sz="2400" b="1">
                <a:solidFill>
                  <a:srgbClr val="00A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l="987" r="355" b="1156"/>
          <a:stretch/>
        </p:blipFill>
        <p:spPr>
          <a:xfrm>
            <a:off x="1186" y="1192"/>
            <a:ext cx="482908" cy="5142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099156" y="4767263"/>
            <a:ext cx="77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" name="Google Shape;59;p14"/>
          <p:cNvCxnSpPr/>
          <p:nvPr/>
        </p:nvCxnSpPr>
        <p:spPr>
          <a:xfrm>
            <a:off x="784859" y="916806"/>
            <a:ext cx="8092500" cy="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" name="Google Shape;60;p14"/>
          <p:cNvCxnSpPr/>
          <p:nvPr/>
        </p:nvCxnSpPr>
        <p:spPr>
          <a:xfrm>
            <a:off x="784859" y="4648575"/>
            <a:ext cx="8092500" cy="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84860" y="181535"/>
            <a:ext cx="76923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AA"/>
              </a:buClr>
              <a:buSzPts val="2400"/>
              <a:buFont typeface="Helvetica Neue"/>
              <a:buNone/>
              <a:defRPr sz="2400" b="1">
                <a:solidFill>
                  <a:srgbClr val="00A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l="987" r="355" b="1156"/>
          <a:stretch/>
        </p:blipFill>
        <p:spPr>
          <a:xfrm>
            <a:off x="1186" y="1192"/>
            <a:ext cx="482908" cy="5142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What is UVM?</a:t>
            </a:r>
            <a:endParaRPr b="1"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UVM = Universal Verification Methodology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standardized verification methodology for hardware design verification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Built on top of </a:t>
            </a:r>
            <a:r>
              <a:rPr lang="en" b="1">
                <a:solidFill>
                  <a:schemeClr val="dk1"/>
                </a:solidFill>
              </a:rPr>
              <a:t>SystemVerilog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to create </a:t>
            </a:r>
            <a:r>
              <a:rPr lang="en" b="1">
                <a:solidFill>
                  <a:schemeClr val="dk1"/>
                </a:solidFill>
              </a:rPr>
              <a:t>structured, reusable, and scalable</a:t>
            </a:r>
            <a:r>
              <a:rPr lang="en">
                <a:solidFill>
                  <a:schemeClr val="dk1"/>
                </a:solidFill>
              </a:rPr>
              <a:t> testbenches based on object-oriented programming concepts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 also includes a set of </a:t>
            </a:r>
            <a:r>
              <a:rPr lang="en" b="1">
                <a:solidFill>
                  <a:schemeClr val="dk1"/>
                </a:solidFill>
              </a:rPr>
              <a:t>guidelines </a:t>
            </a:r>
            <a:r>
              <a:rPr lang="en">
                <a:solidFill>
                  <a:schemeClr val="dk1"/>
                </a:solidFill>
              </a:rPr>
              <a:t>and</a:t>
            </a:r>
            <a:r>
              <a:rPr lang="en" b="1">
                <a:solidFill>
                  <a:schemeClr val="dk1"/>
                </a:solidFill>
              </a:rPr>
              <a:t> best practices</a:t>
            </a:r>
            <a:r>
              <a:rPr lang="en">
                <a:solidFill>
                  <a:schemeClr val="dk1"/>
                </a:solidFill>
              </a:rPr>
              <a:t> for developing testbenches, as well as a methodology for running simulations and analyzing results.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Widely adopted by semiconductor industry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8200000" cy="5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212121"/>
                </a:solidFill>
                <a:latin typeface="Helvetica Neue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20000"/>
            <a:ext cx="600000" cy="30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7200" y="950000"/>
            <a:ext cx="3960000" cy="1251166"/>
          </a:xfrm>
          <a:prstGeom prst="roundRect">
            <a:avLst>
              <a:gd name="adj" fmla="val 8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90000"/>
            <a:ext cx="40000" cy="117116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200" y="1395583"/>
            <a:ext cx="4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97A7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200" y="1375583"/>
            <a:ext cx="346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12121"/>
                </a:solidFill>
                <a:latin typeface="Helvetica Neue"/>
              </a:rPr>
              <a:t>UVM Fundamentals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7200" y="2321166"/>
            <a:ext cx="3960000" cy="1251166"/>
          </a:xfrm>
          <a:prstGeom prst="roundRect">
            <a:avLst>
              <a:gd name="adj" fmla="val 8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61166"/>
            <a:ext cx="40000" cy="117116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200" y="2766749"/>
            <a:ext cx="4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97A7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200" y="2746749"/>
            <a:ext cx="346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12121"/>
                </a:solidFill>
                <a:latin typeface="Helvetica Neue"/>
              </a:rPr>
              <a:t>Advantages &amp; Challenges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200" y="3692332"/>
            <a:ext cx="3960000" cy="1251166"/>
          </a:xfrm>
          <a:prstGeom prst="roundRect">
            <a:avLst>
              <a:gd name="adj" fmla="val 8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32332"/>
            <a:ext cx="40000" cy="117116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200" y="4137915"/>
            <a:ext cx="4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97A7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00" y="4117915"/>
            <a:ext cx="346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12121"/>
                </a:solidFill>
                <a:latin typeface="Helvetica Neue"/>
              </a:rPr>
              <a:t>Introducing PyUVM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7200" y="950000"/>
            <a:ext cx="3960000" cy="1251166"/>
          </a:xfrm>
          <a:prstGeom prst="roundRect">
            <a:avLst>
              <a:gd name="adj" fmla="val 8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7200" y="990000"/>
            <a:ext cx="40000" cy="117116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47200" y="1395583"/>
            <a:ext cx="4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97A7"/>
                </a:solidFill>
                <a:latin typeface="Helvetica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7200" y="1375583"/>
            <a:ext cx="346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12121"/>
                </a:solidFill>
                <a:latin typeface="Helvetica Neue"/>
              </a:rPr>
              <a:t>Architecture &amp; Components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7200" y="2321166"/>
            <a:ext cx="3960000" cy="1251166"/>
          </a:xfrm>
          <a:prstGeom prst="roundRect">
            <a:avLst>
              <a:gd name="adj" fmla="val 8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7200" y="2361166"/>
            <a:ext cx="40000" cy="117116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7200" y="2766749"/>
            <a:ext cx="4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97A7"/>
                </a:solidFill>
                <a:latin typeface="Helvetica Neu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7200" y="2746749"/>
            <a:ext cx="346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12121"/>
                </a:solidFill>
                <a:latin typeface="Helvetica Neue"/>
              </a:rPr>
              <a:t>Phases, TLM &amp; Configuration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27200" y="3692332"/>
            <a:ext cx="3960000" cy="1251166"/>
          </a:xfrm>
          <a:prstGeom prst="roundRect">
            <a:avLst>
              <a:gd name="adj" fmla="val 8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7200" y="3732332"/>
            <a:ext cx="40000" cy="117116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7200" y="4137915"/>
            <a:ext cx="4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97A7"/>
                </a:solidFill>
                <a:latin typeface="Helvetica Neu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7200" y="4117915"/>
            <a:ext cx="346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12121"/>
                </a:solidFill>
                <a:latin typeface="Helvetica Neue"/>
              </a:rPr>
              <a:t>Cocotb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80" b="1">
                <a:latin typeface="Helvetica Neue"/>
                <a:ea typeface="Helvetica Neue"/>
                <a:cs typeface="Helvetica Neue"/>
                <a:sym typeface="Helvetica Neue"/>
              </a:rPr>
              <a:t>UVM Hierarchy</a:t>
            </a:r>
            <a:endParaRPr sz="2320" b="1"/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{4D7CDEBC-9553-4604-A69B-95068904945A}</a:tableStyleId>
              </a:tblPr>
              <a:tblGrid>
                <a:gridCol w="141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200" b="1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200" b="1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Sequence item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a transaction that is communicated between the class environment and the DUT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Sequencer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 data structure and send it to the driver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Driver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Receiving transaction from the sequencer and Drive this data to the virtual interface instance connected to the DUT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Monitor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 the data signals from the virtual interface instance connected to the DUT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Contains the Sequencer, Driver and Monitor, There can be more than one agent in a single environment ,each agent should connect to a separate interface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can be:</a:t>
                      </a:r>
                      <a:endParaRPr sz="900" b="1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Calibri"/>
                        <a:buChar char="➔"/>
                      </a:pPr>
                      <a:r>
                        <a:rPr lang="en" sz="9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agents:</a:t>
                      </a: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Responsible for driving sequences to DUT and monitoring them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Calibri"/>
                        <a:buChar char="➔"/>
                      </a:pPr>
                      <a:r>
                        <a:rPr lang="en" sz="9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Passive agents</a:t>
                      </a: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:Responsible for monitoring output from the DUT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Enviroment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Gather all agents in single component,It may also contain other smaller environments that has been verified at block level and now integrated into a subsystem.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Scoreboard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Checker that determines if test Passed/Failed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638CFF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Subscriber</a:t>
                      </a:r>
                      <a:endParaRPr sz="1100" b="1">
                        <a:solidFill>
                          <a:srgbClr val="638CFF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20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UVM in Verification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Reusability:</a:t>
            </a:r>
            <a:r>
              <a:rPr lang="en"/>
              <a:t> same agent can be reused across multiple projects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Scalability: </a:t>
            </a:r>
            <a:r>
              <a:rPr lang="en"/>
              <a:t>works for small blocks up to large SoCs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Standard structure:</a:t>
            </a:r>
            <a:r>
              <a:rPr lang="en"/>
              <a:t>Engineers can understand each other’s testbenches faster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Constrained-random testing:</a:t>
            </a:r>
            <a:r>
              <a:rPr lang="en"/>
              <a:t> generates many legal stimulus scenarios automatically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Functional coverage:</a:t>
            </a:r>
            <a:r>
              <a:rPr lang="en"/>
              <a:t> what scenarios were actually tested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TLM communication:</a:t>
            </a:r>
            <a:r>
              <a:rPr lang="en"/>
              <a:t>components exchange transactions cleanly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Factory mechanism:</a:t>
            </a:r>
            <a:r>
              <a:rPr lang="en"/>
              <a:t>allows easy component replacement without changing base code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Better maintainability:</a:t>
            </a:r>
            <a:r>
              <a:rPr lang="en"/>
              <a:t>easier to extend than ad hoc testbenches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with Traditional UVM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700"/>
              <a:t>Expensive commercial tools required — Synopsys VCS, Cadence Xcelium, Siemens Questa all need costly licenses</a:t>
            </a:r>
            <a:endParaRPr sz="17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strong knowledge of SystemVerilog OOP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curve is high for students and new verification engineers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Debugging can be difficult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 friendly for software-oriented engineers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Integrating Python models, data processing, or ML logic is less natural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Running pure open-source flows is harder than with Python-based verification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PyUVM?</a:t>
            </a: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implementation of the UVM 1800.2 standard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Fully open-source under the Apache 2.0 license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Leverages Python's object-oriented features to implement UVM class hierarchy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Works on top of cocotb for RTL signal interaction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Removes much of the SystemVerilog complexity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Especially useful for: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education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research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Prototyping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open-source verification flows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PyUVM over Traditional UVM</a:t>
            </a: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Open Source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No expensive licenses. Free for everyone — academia, startups, hobbyists.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Python-Based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Cleaner syntax, faster development cycles.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Rich Ecosystem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Access NumPy, SciPy, ML libraries, and thousands of Python packages.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Faster Iteration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No compilation step for testbench code. Edit and re-run instantly.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Better Debugging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Python debuggers (pdb, IDE debuggers), rich logging, REPL exploration.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Lower Learning Curve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Python is more accessible. New engineers become productive faster.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Large Community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Python's massive developer community means abundant resources and support.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PyUVM Testbench Architecture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725" y="1102825"/>
            <a:ext cx="5368074" cy="381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UVM Component Classes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638" y="1395973"/>
            <a:ext cx="6672263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UVM Object Classes 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163" y="1628773"/>
            <a:ext cx="4279106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Components :</a:t>
            </a:r>
            <a:endParaRPr/>
          </a:p>
          <a:p>
            <a:pPr marL="685800" lvl="1" indent="-2540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build the test bench structure </a:t>
            </a:r>
            <a:endParaRPr/>
          </a:p>
          <a:p>
            <a:pPr marL="685800" lvl="1" indent="-2540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 TB hierarchy </a:t>
            </a:r>
            <a:endParaRPr/>
          </a:p>
          <a:p>
            <a:pPr marL="685800" lvl="1" indent="-2540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Static-like(Quasi-Static) structures that are created during run time and they are persistent throughout the simulation </a:t>
            </a:r>
            <a:endParaRPr/>
          </a:p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Objects</a:t>
            </a:r>
            <a:endParaRPr/>
          </a:p>
          <a:p>
            <a:pPr marL="685800" lvl="1" indent="-2540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for stimulus modeling (transactions) </a:t>
            </a:r>
            <a:endParaRPr/>
          </a:p>
          <a:p>
            <a:pPr marL="685800" lvl="1" indent="-2540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hierarchy</a:t>
            </a:r>
            <a:endParaRPr/>
          </a:p>
          <a:p>
            <a:pPr marL="685800" lvl="1" indent="-2540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During the simulation, many objects will be created when required, and once used they will be disappeared</a:t>
            </a:r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VS Objects 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pyuvm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uvm_agent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uvm_driver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uvm_env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uvm_monitor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uvm_scoreboard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uvm_sequencer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uvm_test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1">
                <a:solidFill>
                  <a:srgbClr val="8250D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endParaRPr sz="1000" b="1">
              <a:solidFill>
                <a:srgbClr val="8250D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ALUSequencer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uvm_sequencer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1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 b="1">
              <a:solidFill>
                <a:srgbClr val="0550A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ALUDriver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uvm_driver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1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 b="1">
              <a:solidFill>
                <a:srgbClr val="0550A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ALUMonitor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uvm_monitor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1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 b="1">
              <a:solidFill>
                <a:srgbClr val="0550A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ALUScoreboard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uvm_scoreboard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1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 b="1">
              <a:solidFill>
                <a:srgbClr val="0550A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ALUAgent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uvm_agent</a:t>
            </a: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1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 b="1">
              <a:solidFill>
                <a:srgbClr val="0550A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100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99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99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99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ALUEnv</a:t>
            </a:r>
            <a:r>
              <a:rPr lang="en" sz="1099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99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uvm_env</a:t>
            </a:r>
            <a:r>
              <a:rPr lang="en" sz="1099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99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99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99" b="1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 b="1"/>
          </a:p>
        </p:txBody>
      </p:sp>
      <p:sp>
        <p:nvSpPr>
          <p:cNvPr id="153" name="Google Shape;153;p28"/>
          <p:cNvSpPr txBox="1"/>
          <p:nvPr/>
        </p:nvSpPr>
        <p:spPr>
          <a:xfrm>
            <a:off x="4502725" y="1691875"/>
            <a:ext cx="45093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8250D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99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99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99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99">
              <a:solidFill>
                <a:srgbClr val="0550A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8250D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99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99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99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99">
              <a:solidFill>
                <a:srgbClr val="0550A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8250D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99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99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uvm_test</a:t>
            </a: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99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099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99">
                <a:solidFill>
                  <a:srgbClr val="0550A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Phases</a:t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311700" y="985801"/>
            <a:ext cx="7798500" cy="3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Synchronization between testbench components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Methods that do not consume simulation time are functions and methods that consume simulation time are tasks.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has the ability to add a user defined phase.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phases is defined inside the component classes only.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Phases can be grouped into three categories: 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time phases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time phases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Clean-Up phases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Phases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169" name="Google Shape;169;p30"/>
          <p:cNvGrpSpPr/>
          <p:nvPr/>
        </p:nvGrpSpPr>
        <p:grpSpPr>
          <a:xfrm>
            <a:off x="616863" y="1004119"/>
            <a:ext cx="8140681" cy="3540369"/>
            <a:chOff x="616863" y="1004119"/>
            <a:chExt cx="8140681" cy="3540369"/>
          </a:xfrm>
        </p:grpSpPr>
        <p:pic>
          <p:nvPicPr>
            <p:cNvPr id="170" name="Google Shape;170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863" y="1493056"/>
              <a:ext cx="8022075" cy="3051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30"/>
            <p:cNvSpPr txBox="1"/>
            <p:nvPr/>
          </p:nvSpPr>
          <p:spPr>
            <a:xfrm>
              <a:off x="855244" y="1004119"/>
              <a:ext cx="7902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Helvetica Neue"/>
                  <a:ea typeface="Helvetica Neue"/>
                  <a:cs typeface="Helvetica Neue"/>
                  <a:sym typeface="Helvetica Neue"/>
                </a:rPr>
                <a:t>		</a:t>
              </a:r>
              <a:r>
                <a:rPr lang="en" sz="1100" b="1">
                  <a:latin typeface="Helvetica Neue"/>
                  <a:ea typeface="Helvetica Neue"/>
                  <a:cs typeface="Helvetica Neue"/>
                  <a:sym typeface="Helvetica Neue"/>
                </a:rPr>
                <a:t>Functions                                                         Task                                                                        </a:t>
              </a:r>
              <a:r>
                <a:rPr lang="en" sz="1100" b="1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Functions</a:t>
              </a:r>
              <a:endParaRPr sz="1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Phases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79" name="Google Shape;179;p31"/>
          <p:cNvGraphicFramePr/>
          <p:nvPr/>
        </p:nvGraphicFramePr>
        <p:xfrm>
          <a:off x="685369" y="100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{4D7CDEBC-9553-4604-A69B-95068904945A}</a:tableStyleId>
              </a:tblPr>
              <a:tblGrid>
                <a:gridCol w="84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Category</a:t>
                      </a:r>
                      <a:endParaRPr sz="900" b="1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UVM Phase Name</a:t>
                      </a:r>
                      <a:endParaRPr sz="900" b="1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 Type</a:t>
                      </a:r>
                      <a:endParaRPr sz="900" b="1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900" b="1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125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build_phase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build testbench components and create their instances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connect between different testbench components via TLM ports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end_of_elaboration_phase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display UVM topology and other functions required to be done after connection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start_of_simulation_phase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set initial run-time configuration or display topology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run_phase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simulation that consumes time happens in this UVM phase and runs parallel to other UVM run-time phases.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extract_phase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extract and compute expected data from scoreboard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check_phase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perform scoreboard tasks that check for errors between expected and actual values from design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report_phase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display result from checkers, or summary of other test objectives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0506E"/>
                          </a:solidFill>
                          <a:highlight>
                            <a:srgbClr val="F8F9FA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final_phase</a:t>
                      </a:r>
                      <a:endParaRPr sz="900">
                        <a:solidFill>
                          <a:srgbClr val="F0506E"/>
                        </a:solidFill>
                        <a:highlight>
                          <a:srgbClr val="F8F9FA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Typically used to do last minute operations before exiting the simulation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68575" marB="68575" anchor="ctr">
                    <a:lnL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500" cap="flat" cmpd="sng">
                      <a:solidFill>
                        <a:srgbClr val="EA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500" cap="flat" cmpd="sng">
                      <a:solidFill>
                        <a:srgbClr val="DFE3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arenR"/>
            </a:pPr>
            <a:r>
              <a:rPr lang="en" sz="2800">
                <a:solidFill>
                  <a:schemeClr val="dk1"/>
                </a:solidFill>
              </a:rPr>
              <a:t>Build Phase</a:t>
            </a:r>
            <a:endParaRPr sz="2800">
              <a:solidFill>
                <a:schemeClr val="dk1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  <a:p>
            <a:pPr marL="342900" lvl="0" indent="-311150" algn="l" rtl="0">
              <a:spcBef>
                <a:spcPts val="800"/>
              </a:spcBef>
              <a:spcAft>
                <a:spcPts val="0"/>
              </a:spcAft>
              <a:buSzPts val="2300"/>
              <a:buChar char="●"/>
            </a:pPr>
            <a:r>
              <a:rPr lang="en" sz="2300" b="0"/>
              <a:t>The build phases are executed at the start of the UVM test bench simulation and their overall purpose is to </a:t>
            </a:r>
            <a:r>
              <a:rPr lang="en" sz="2300"/>
              <a:t>construct</a:t>
            </a:r>
            <a:r>
              <a:rPr lang="en" sz="2300" b="0"/>
              <a:t>, </a:t>
            </a:r>
            <a:r>
              <a:rPr lang="en" sz="2300"/>
              <a:t>configure</a:t>
            </a:r>
            <a:r>
              <a:rPr lang="en" sz="2300" b="0"/>
              <a:t> and </a:t>
            </a:r>
            <a:r>
              <a:rPr lang="en" sz="2300"/>
              <a:t>connect</a:t>
            </a:r>
            <a:r>
              <a:rPr lang="en" sz="2300" b="0"/>
              <a:t> the test bench component hierarchy </a:t>
            </a:r>
            <a:endParaRPr sz="2300" b="0"/>
          </a:p>
          <a:p>
            <a:pPr marL="342900" lvl="0" indent="-311150" algn="l" rtl="0">
              <a:spcBef>
                <a:spcPts val="800"/>
              </a:spcBef>
              <a:spcAft>
                <a:spcPts val="0"/>
              </a:spcAft>
              <a:buSzPts val="2300"/>
              <a:buChar char="●"/>
            </a:pPr>
            <a:r>
              <a:rPr lang="en" sz="2300" b="0"/>
              <a:t>All the build phase methods are functions and therefore execute in zero simulation time</a:t>
            </a:r>
            <a:endParaRPr sz="2300" b="0"/>
          </a:p>
        </p:txBody>
      </p:sp>
      <p:sp>
        <p:nvSpPr>
          <p:cNvPr id="186" name="Google Shape;18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87" name="Google Shape;18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342900" lvl="0" indent="-3028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R"/>
            </a:pPr>
            <a:r>
              <a:rPr lang="en" sz="2800">
                <a:solidFill>
                  <a:schemeClr val="dk1"/>
                </a:solidFill>
              </a:rPr>
              <a:t>Build Phase (sub-phases)</a:t>
            </a:r>
            <a:endParaRPr sz="280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:</a:t>
            </a:r>
            <a:endParaRPr b="0"/>
          </a:p>
          <a:p>
            <a:pPr marL="342900" lvl="0" indent="-253683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0"/>
              <a:t>Executes </a:t>
            </a:r>
            <a:r>
              <a:rPr lang="en"/>
              <a:t>top down</a:t>
            </a:r>
            <a:r>
              <a:rPr lang="en" b="0"/>
              <a:t> </a:t>
            </a:r>
            <a:endParaRPr b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Connect :</a:t>
            </a:r>
            <a:endParaRPr b="0"/>
          </a:p>
          <a:p>
            <a:pPr marL="342900" lvl="0" indent="-253683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0"/>
              <a:t>Executes </a:t>
            </a:r>
            <a:r>
              <a:rPr lang="en"/>
              <a:t>bottom up</a:t>
            </a:r>
            <a:r>
              <a:rPr lang="en" b="0"/>
              <a:t> </a:t>
            </a:r>
            <a:endParaRPr b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End of elaboration :</a:t>
            </a:r>
            <a:endParaRPr/>
          </a:p>
          <a:p>
            <a:pPr marL="342900" lvl="0" indent="-253683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0"/>
              <a:t>Executes</a:t>
            </a:r>
            <a:r>
              <a:rPr lang="en"/>
              <a:t> bottom up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Start of simulation :</a:t>
            </a:r>
            <a:endParaRPr/>
          </a:p>
          <a:p>
            <a:pPr marL="342900" lvl="0" indent="-253683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0"/>
              <a:t>Executes</a:t>
            </a:r>
            <a:r>
              <a:rPr lang="en"/>
              <a:t> bottom up</a:t>
            </a:r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2) Run Time phase: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0"/>
              <a:t>The UVM executes the run phase and the phases pre_reset through to post_shutdown</a:t>
            </a:r>
            <a:r>
              <a:rPr lang="en"/>
              <a:t> in parallel</a:t>
            </a:r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>
                <a:solidFill>
                  <a:schemeClr val="dk1"/>
                </a:solidFill>
              </a:rPr>
              <a:t>hases: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2"/>
                </a:solidFill>
              </a:rPr>
              <a:t>3) Clean-up phases</a:t>
            </a:r>
            <a:endParaRPr sz="2800">
              <a:solidFill>
                <a:schemeClr val="accent2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342900" lvl="0" indent="-2984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sz="2100" b="0"/>
              <a:t>The clean up phases are used to </a:t>
            </a:r>
            <a:r>
              <a:rPr lang="en" sz="2100"/>
              <a:t>extract information</a:t>
            </a:r>
            <a:r>
              <a:rPr lang="en" sz="2100" b="0"/>
              <a:t> from </a:t>
            </a:r>
            <a:r>
              <a:rPr lang="en" sz="2100"/>
              <a:t>scoreboards and functional coverage monitors </a:t>
            </a:r>
            <a:r>
              <a:rPr lang="en" sz="2100" b="0"/>
              <a:t>to determine whether the test case has passed and/or reached its coverage goals .</a:t>
            </a:r>
            <a:endParaRPr sz="2100" b="0"/>
          </a:p>
          <a:p>
            <a:pPr marL="342900" lvl="0" indent="-2984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sz="2100" b="0"/>
              <a:t>Take zero time to execute </a:t>
            </a:r>
            <a:endParaRPr sz="2100" b="0"/>
          </a:p>
          <a:p>
            <a:pPr marL="342900" lvl="0" indent="-2984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sz="2100" b="0"/>
              <a:t>Used by analysis components </a:t>
            </a:r>
            <a:endParaRPr sz="2100" b="0"/>
          </a:p>
          <a:p>
            <a:pPr marL="342900" lvl="0" indent="-2984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sz="2100" b="0"/>
              <a:t>Work</a:t>
            </a:r>
            <a:r>
              <a:rPr lang="en" sz="2100"/>
              <a:t> bottom up</a:t>
            </a:r>
            <a:endParaRPr sz="2100"/>
          </a:p>
        </p:txBody>
      </p:sp>
      <p:sp>
        <p:nvSpPr>
          <p:cNvPr id="210" name="Google Shape;21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11" name="Google Shape;21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Phases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Objections Management</a:t>
            </a:r>
            <a:endParaRPr/>
          </a:p>
        </p:txBody>
      </p:sp>
      <p:sp>
        <p:nvSpPr>
          <p:cNvPr id="217" name="Google Shape;21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UVM objections are used to synchronize between the UVM phases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Phase runs in parallel in all component and consumes time in each one, so objection synchronize this process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long as the objection is raised on certain phase for example the run phase , other phases after run phase are blocked.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the objection is dropped, other phases can start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used in test class only</a:t>
            </a:r>
            <a:endParaRPr/>
          </a:p>
        </p:txBody>
      </p:sp>
      <p:sp>
        <p:nvSpPr>
          <p:cNvPr id="218" name="Google Shape;218;p36"/>
          <p:cNvSpPr txBox="1"/>
          <p:nvPr/>
        </p:nvSpPr>
        <p:spPr>
          <a:xfrm>
            <a:off x="1905000" y="3463625"/>
            <a:ext cx="5568300" cy="1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 b="1">
                <a:solidFill>
                  <a:srgbClr val="CF22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 b="1">
                <a:solidFill>
                  <a:srgbClr val="8250D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run_phase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15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 b="1">
                <a:solidFill>
                  <a:srgbClr val="8250D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raise_objection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15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5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sequence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.start(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agent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seqr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50" b="1">
                <a:solidFill>
                  <a:srgbClr val="1F232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 b="1">
                <a:solidFill>
                  <a:srgbClr val="8250D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drop_objection</a:t>
            </a:r>
            <a:r>
              <a:rPr lang="en" sz="1150" b="1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150" b="1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TLM</a:t>
            </a:r>
            <a:endParaRPr/>
          </a:p>
        </p:txBody>
      </p:sp>
      <p:sp>
        <p:nvSpPr>
          <p:cNvPr id="224" name="Google Shape;224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TLM means Transaction-Level Modeling.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passing raw signals, components communicate using transactions.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makes verification code more reusable and easier to reason about.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TLM usage includes sequencer to driver, monitor to scoreboard, monitor to subscriber, and FIFO-style channels.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PyUVM, TLM ports and exports are used to connect producers and consumers of transactions.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TLM with Figure and Code</a:t>
            </a:r>
            <a:endParaRPr/>
          </a:p>
        </p:txBody>
      </p:sp>
      <p:sp>
        <p:nvSpPr>
          <p:cNvPr id="230" name="Google Shape;23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</a:t>
            </a:r>
            <a:endParaRPr/>
          </a:p>
        </p:txBody>
      </p:sp>
      <p:sp>
        <p:nvSpPr>
          <p:cNvPr id="236" name="Google Shape;236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cocotb?</a:t>
            </a:r>
            <a:endParaRPr/>
          </a:p>
        </p:txBody>
      </p:sp>
      <p:sp>
        <p:nvSpPr>
          <p:cNvPr id="242" name="Google Shape;242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cocotb is a coroutine-based cosimulation framework for verifying HDL designs in Python.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gives Python code access to simulator objects and DUT signals.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coroutines (async / await) for timing control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PyUVM Uses cocotb?</a:t>
            </a:r>
            <a:endParaRPr/>
          </a:p>
        </p:txBody>
      </p:sp>
      <p:sp>
        <p:nvSpPr>
          <p:cNvPr id="248" name="Google Shape;248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Open-Source Simulation Tools</a:t>
            </a: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Common open-source simulators used with cocotb/PyUVM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Icarus Verilog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simple and easy to start with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mainly for Verilog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good for learning and small projects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Verilator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very fast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converts Verilog/SystemVerilog subset into C++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widely used in open-source flows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strong for RTL simulation, but not full SystemVerilog/UVM support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GHDL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open-source VHDL simulator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useful for VHDL designs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GTKWave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not a simulator, but waveform viewer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used to inspect simulation signals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Microsoft Office PowerPoint</Application>
  <PresentationFormat>On-screen Show (16:9)</PresentationFormat>
  <Paragraphs>241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Courier New</vt:lpstr>
      <vt:lpstr>Arial</vt:lpstr>
      <vt:lpstr>Calibri</vt:lpstr>
      <vt:lpstr>Helvetica Neue</vt:lpstr>
      <vt:lpstr>Simple Light</vt:lpstr>
      <vt:lpstr>What is UVM?</vt:lpstr>
      <vt:lpstr>UVM Testbench Architecture</vt:lpstr>
      <vt:lpstr>UVM Hierarchy</vt:lpstr>
      <vt:lpstr>Advantages of UVM in Verification</vt:lpstr>
      <vt:lpstr>The Problem with Traditional UVM</vt:lpstr>
      <vt:lpstr>What is PyUVM?</vt:lpstr>
      <vt:lpstr>Advantages of PyUVM over Traditional UVM</vt:lpstr>
      <vt:lpstr>PyUVM Testbench Architecture</vt:lpstr>
      <vt:lpstr>UVM Component Classes</vt:lpstr>
      <vt:lpstr>UVM Object Classes </vt:lpstr>
      <vt:lpstr>Components VS Objects :</vt:lpstr>
      <vt:lpstr>Code Example</vt:lpstr>
      <vt:lpstr>Phases</vt:lpstr>
      <vt:lpstr>Phases</vt:lpstr>
      <vt:lpstr>Phases</vt:lpstr>
      <vt:lpstr>Phase</vt:lpstr>
      <vt:lpstr>Phases</vt:lpstr>
      <vt:lpstr>Phases:</vt:lpstr>
      <vt:lpstr>Phases</vt:lpstr>
      <vt:lpstr>Objections Management</vt:lpstr>
      <vt:lpstr>TLM</vt:lpstr>
      <vt:lpstr>Types of TLM with Figure and Code</vt:lpstr>
      <vt:lpstr>Configuration</vt:lpstr>
      <vt:lpstr>What is cocotb?</vt:lpstr>
      <vt:lpstr>How PyUVM Uses cocotb?</vt:lpstr>
      <vt:lpstr>Open-Source Simulation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UVM?</dc:title>
  <cp:lastModifiedBy>Victus</cp:lastModifiedBy>
  <cp:revision>1</cp:revision>
  <dcterms:modified xsi:type="dcterms:W3CDTF">2026-04-06T03:27:57Z</dcterms:modified>
</cp:coreProperties>
</file>